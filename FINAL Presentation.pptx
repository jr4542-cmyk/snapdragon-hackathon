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ublic Sans Medium"/>
      <p:regular r:id="rId17"/>
      <p:bold r:id="rId18"/>
      <p:italic r:id="rId19"/>
      <p:boldItalic r:id="rId20"/>
    </p:embeddedFont>
    <p:embeddedFont>
      <p:font typeface="Public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j0Q2rViC2YGdj2wP1ckUVYIBmx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Medium-boldItalic.fntdata"/><Relationship Id="rId22" Type="http://schemas.openxmlformats.org/officeDocument/2006/relationships/font" Target="fonts/PublicSans-bold.fntdata"/><Relationship Id="rId21" Type="http://schemas.openxmlformats.org/officeDocument/2006/relationships/font" Target="fonts/PublicSans-regular.fntdata"/><Relationship Id="rId24" Type="http://schemas.openxmlformats.org/officeDocument/2006/relationships/font" Target="fonts/PublicSans-boldItalic.fntdata"/><Relationship Id="rId23" Type="http://schemas.openxmlformats.org/officeDocument/2006/relationships/font" Target="fonts/Public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ublicSansMedium-regular.fntdata"/><Relationship Id="rId16" Type="http://schemas.openxmlformats.org/officeDocument/2006/relationships/slide" Target="slides/slide11.xml"/><Relationship Id="rId19" Type="http://schemas.openxmlformats.org/officeDocument/2006/relationships/font" Target="fonts/PublicSansMedium-italic.fntdata"/><Relationship Id="rId18" Type="http://schemas.openxmlformats.org/officeDocument/2006/relationships/font" Target="fonts/Public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abhay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abhay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658dfca26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c658dfca26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abhay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658dfca2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c658dfca2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Now, let’s look at the first step in our pipeline: </a:t>
            </a:r>
            <a:r>
              <a:rPr b="1" lang="en">
                <a:solidFill>
                  <a:schemeClr val="dk1"/>
                </a:solidFill>
              </a:rPr>
              <a:t>Perception</a:t>
            </a:r>
            <a:r>
              <a:rPr lang="en">
                <a:solidFill>
                  <a:schemeClr val="dk1"/>
                </a:solidFill>
              </a:rPr>
              <a:t>. For our users, the system must act as a digital set of eyes. To achieve this, we integrated the </a:t>
            </a:r>
            <a:r>
              <a:rPr b="1" lang="en">
                <a:solidFill>
                  <a:schemeClr val="dk1"/>
                </a:solidFill>
              </a:rPr>
              <a:t>COCO-SSD model</a:t>
            </a:r>
            <a:r>
              <a:rPr lang="en">
                <a:solidFill>
                  <a:schemeClr val="dk1"/>
                </a:solidFill>
              </a:rPr>
              <a:t>, a powerful MultiBox detector capable of identifying over 80 different classes of urban objects—from cars and traffic lights to pedestrians and stairs.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However, identification is only part of the challenge. In a safety-critical application, every millisecond counts. This is why we implemented </a:t>
            </a:r>
            <a:r>
              <a:rPr b="1" lang="en">
                <a:solidFill>
                  <a:schemeClr val="dk1"/>
                </a:solidFill>
              </a:rPr>
              <a:t>WebGL Acceleration</a:t>
            </a:r>
            <a:r>
              <a:rPr lang="en">
                <a:solidFill>
                  <a:schemeClr val="dk1"/>
                </a:solidFill>
              </a:rPr>
              <a:t>. By tapping directly into the device’s GPU, we achieve high-speed inference that bypasses the cloud entirely. This means the system provides </a:t>
            </a:r>
            <a:r>
              <a:rPr b="1" lang="en">
                <a:solidFill>
                  <a:schemeClr val="dk1"/>
                </a:solidFill>
              </a:rPr>
              <a:t>zero-latency</a:t>
            </a:r>
            <a:r>
              <a:rPr lang="en">
                <a:solidFill>
                  <a:schemeClr val="dk1"/>
                </a:solidFill>
              </a:rPr>
              <a:t> feedback, which is vital because a car moving at city speeds doesn't wait for a server to respond. Our dynamic bounding logic ensures we are calculating spatial coordinates in the user's frame of reference, in real-time, every single frame.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658dfca2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658dfca2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Once the system 'sees' an object, it needs to understand the </a:t>
            </a:r>
            <a:r>
              <a:rPr i="1" lang="en">
                <a:solidFill>
                  <a:schemeClr val="dk1"/>
                </a:solidFill>
              </a:rPr>
              <a:t>intent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i="1" lang="en">
                <a:solidFill>
                  <a:schemeClr val="dk1"/>
                </a:solidFill>
              </a:rPr>
              <a:t>danger</a:t>
            </a:r>
            <a:r>
              <a:rPr lang="en">
                <a:solidFill>
                  <a:schemeClr val="dk1"/>
                </a:solidFill>
              </a:rPr>
              <a:t> of that object. Raw pixels are useless to an AI, so we translate the bounding box into a four-dimensional </a:t>
            </a:r>
            <a:r>
              <a:rPr b="1" lang="en">
                <a:solidFill>
                  <a:schemeClr val="dk1"/>
                </a:solidFill>
              </a:rPr>
              <a:t>State Vector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vector is the mathematical 'brain' of the app. We look at: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Distance Proxy:</a:t>
            </a:r>
            <a:r>
              <a:rPr lang="en">
                <a:solidFill>
                  <a:schemeClr val="dk1"/>
                </a:solidFill>
              </a:rPr>
              <a:t> Since we are using a 2D camera, we use the object's </a:t>
            </a:r>
            <a:r>
              <a:rPr b="1" lang="en">
                <a:solidFill>
                  <a:schemeClr val="dk1"/>
                </a:solidFill>
              </a:rPr>
              <a:t>Area</a:t>
            </a:r>
            <a:r>
              <a:rPr lang="en">
                <a:solidFill>
                  <a:schemeClr val="dk1"/>
                </a:solidFill>
              </a:rPr>
              <a:t> as a proxy for distance—the larger the area, the closer the threat.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Deviation (x):</a:t>
            </a:r>
            <a:r>
              <a:rPr lang="en">
                <a:solidFill>
                  <a:schemeClr val="dk1"/>
                </a:solidFill>
              </a:rPr>
              <a:t> This measures how far an object is from the center of the user's path.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Velocity (v):</a:t>
            </a:r>
            <a:r>
              <a:rPr lang="en">
                <a:solidFill>
                  <a:schemeClr val="dk1"/>
                </a:solidFill>
              </a:rPr>
              <a:t> We calculate the rate of change in the object's size. If an object is growing rapidly in the frame, our AI recognizes it as an approaching hazard.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Class Weighting:</a:t>
            </a:r>
            <a:r>
              <a:rPr lang="en">
                <a:solidFill>
                  <a:schemeClr val="dk1"/>
                </a:solidFill>
              </a:rPr>
              <a:t> Finally, we assign priority. A moving bus carries a significantly higher weight in our risk calculation than a discarded bottle on the sidewalk. This vector allows us to move from 'seeing' to 'reasoning'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658dfca2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658dfca2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the State Vector defined, our </a:t>
            </a:r>
            <a:r>
              <a:rPr b="1" lang="en">
                <a:solidFill>
                  <a:schemeClr val="dk1"/>
                </a:solidFill>
              </a:rPr>
              <a:t>Reinforcement Learning Policy</a:t>
            </a:r>
            <a:r>
              <a:rPr lang="en">
                <a:solidFill>
                  <a:schemeClr val="dk1"/>
                </a:solidFill>
              </a:rPr>
              <a:t> takes over to execute an action. This is the logic that decides whether a user is safe or needs to move immediately.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you can see in our policy matrix, we’ve defined clear risk thresholds. If the </a:t>
            </a:r>
            <a:r>
              <a:rPr b="1" lang="en">
                <a:solidFill>
                  <a:schemeClr val="dk1"/>
                </a:solidFill>
              </a:rPr>
              <a:t>Area exceeds 0.35</a:t>
            </a:r>
            <a:r>
              <a:rPr lang="en">
                <a:solidFill>
                  <a:schemeClr val="dk1"/>
                </a:solidFill>
              </a:rPr>
              <a:t>, the system identifies a </a:t>
            </a:r>
            <a:r>
              <a:rPr b="1" lang="en">
                <a:solidFill>
                  <a:schemeClr val="dk1"/>
                </a:solidFill>
              </a:rPr>
              <a:t>CRITICAL</a:t>
            </a:r>
            <a:r>
              <a:rPr lang="en">
                <a:solidFill>
                  <a:schemeClr val="dk1"/>
                </a:solidFill>
              </a:rPr>
              <a:t> risk and triggers a </a:t>
            </a:r>
            <a:r>
              <a:rPr b="1" lang="en">
                <a:solidFill>
                  <a:schemeClr val="dk1"/>
                </a:solidFill>
              </a:rPr>
              <a:t>HALT</a:t>
            </a:r>
            <a:r>
              <a:rPr lang="en">
                <a:solidFill>
                  <a:schemeClr val="dk1"/>
                </a:solidFill>
              </a:rPr>
              <a:t> command. If the object is closer but off-center, the policy triggers a </a:t>
            </a:r>
            <a:r>
              <a:rPr b="1" lang="en">
                <a:solidFill>
                  <a:schemeClr val="dk1"/>
                </a:solidFill>
              </a:rPr>
              <a:t>VEER</a:t>
            </a:r>
            <a:r>
              <a:rPr lang="en">
                <a:solidFill>
                  <a:schemeClr val="dk1"/>
                </a:solidFill>
              </a:rPr>
              <a:t>command—directing the user to the left or right to avoid the obstacle.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makes this 'Adaptive' is the </a:t>
            </a:r>
            <a:r>
              <a:rPr b="1" lang="en">
                <a:solidFill>
                  <a:schemeClr val="dk1"/>
                </a:solidFill>
              </a:rPr>
              <a:t>Policy Optimizer</a:t>
            </a:r>
            <a:r>
              <a:rPr lang="en">
                <a:solidFill>
                  <a:schemeClr val="dk1"/>
                </a:solidFill>
              </a:rPr>
              <a:t>. We use a reward function—R=Area×(1−∣Dev∣)—which effectively punishes the system if it allows a large object to remain in the user's central path. This closed-loop system ensures that the guidance provided is always the mathematically 'safest' path through a chaotic urban environment."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658dfca26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658dfca2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jairam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658dfca2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c658dfca2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658dfca26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c658dfca2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658dfca26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c658dfca26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abhay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c658dfca26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c658dfca26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" name="Google Shape;11;p13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" name="Google Shape;13;p1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" name="Google Shape;19;p14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0" name="Google Shape;20;p1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" name="Google Shape;23;p15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15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" name="Google Shape;26;p15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" name="Google Shape;27;p15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" name="Google Shape;28;p15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" name="Google Shape;34;p16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" name="Google Shape;35;p16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" name="Google Shape;36;p16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38" name="Google Shape;38;p16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" name="Google Shape;42;p17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43" name="Google Shape;43;p17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17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" name="Google Shape;53;p1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18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0" name="Google Shape;60;p18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" name="Google Shape;61;p18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2" name="Google Shape;62;p18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" name="Google Shape;63;p18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ublic San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4" name="Google Shape;64;p18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9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4" name="Google Shape;74;p19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5" name="Google Shape;75;p19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6" name="Google Shape;76;p19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7" name="Google Shape;77;p19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8" name="Google Shape;78;p19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9" name="Google Shape;79;p19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0" name="Google Shape;80;p19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1" name="Google Shape;81;p19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2" name="Google Shape;82;p19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3" name="Google Shape;83;p19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4" name="Google Shape;84;p19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5" name="Google Shape;85;p19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" name="Google Shape;86;p19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7" name="Google Shape;87;p19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8" name="Google Shape;88;p19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89" name="Google Shape;89;p19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90" name="Google Shape;90;p19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91" name="Google Shape;91;p19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92" name="Google Shape;92;p1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20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7" name="Google Shape;97;p20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20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20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21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2" name="Google Shape;13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9" name="Google Shape;139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47" name="Google Shape;147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5" name="Google Shape;155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6" name="Google Shape;156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7" name="Google Shape;157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8" name="Google Shape;158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9" name="Google Shape;159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8" name="Google Shape;168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9" name="Google Shape;169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0" name="Google Shape;170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" name="Google Shape;171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3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8" name="Google Shape;178;p3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9" name="Google Shape;179;p3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0" name="Google Shape;180;p3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6" name="Google Shape;186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8" name="Google Shape;188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" name="Google Shape;189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" name="Google Shape;190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1" name="Google Shape;191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8" name="Google Shape;198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1" name="Google Shape;20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4" name="Google Shape;204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7" name="Google Shape;207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0" name="Google Shape;210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2" name="Google Shape;21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5" name="Google Shape;215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6" name="Google Shape;216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4" name="Google Shape;234;p4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5" name="Google Shape;235;p43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36" name="Google Shape;236;p43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7" name="Google Shape;237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0" name="Google Shape;240;p44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1" name="Google Shape;241;p44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2" name="Google Shape;242;p44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44" name="Google Shape;244;p44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8" name="Google Shape;248;p45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9" name="Google Shape;249;p45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0" name="Google Shape;250;p45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5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52" name="Google Shape;252;p45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7" name="Google Shape;257;p4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46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6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46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1" name="Google Shape;261;p46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6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46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6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46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6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46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8" name="Google Shape;268;p46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0" name="Google Shape;270;p46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6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4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5" name="Google Shape;275;p46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6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46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47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47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4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3" name="Google Shape;283;p47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7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47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7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7" name="Google Shape;287;p47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7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9" name="Google Shape;289;p47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7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1" name="Google Shape;291;p47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7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4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9" name="Google Shape;299;p4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49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1" name="Google Shape;301;p49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49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3" name="Google Shape;303;p49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4" name="Google Shape;304;p49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" name="Google Shape;305;p4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0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8" name="Google Shape;308;p50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09" name="Google Shape;309;p50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5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50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0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50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50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50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50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7" name="Google Shape;317;p50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0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9" name="Google Shape;319;p5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2" name="Google Shape;322;p51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1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4" name="Google Shape;324;p51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1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51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7" name="Google Shape;327;p51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1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51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0" name="Google Shape;330;p51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51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51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3" name="Google Shape;333;p51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51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5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52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52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52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52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52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52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52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52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52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5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53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53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2" name="Google Shape;352;p53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3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4" name="Google Shape;354;p53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5" name="Google Shape;355;p53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53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7" name="Google Shape;357;p53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8" name="Google Shape;358;p53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60" name="Google Shape;360;p5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3" name="Google Shape;363;p54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b="0" i="0" sz="7200" u="none" cap="none" strike="noStrike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364" name="Google Shape;364;p5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54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54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54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54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4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54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3" name="Google Shape;373;p54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54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5" name="Google Shape;375;p5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5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8" name="Google Shape;378;p55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5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55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1" name="Google Shape;381;p55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55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55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55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5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55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388" name="Google Shape;388;p55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55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55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5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56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6" name="Google Shape;396;p56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7" name="Google Shape;397;p56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8" name="Google Shape;398;p56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6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6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6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56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3" name="Google Shape;403;p56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56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05" name="Google Shape;405;p56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06" name="Google Shape;406;p56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5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b="0" i="0" sz="6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 b="0" i="0" sz="1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b="0" i="0" sz="1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"/>
          <p:cNvSpPr txBox="1"/>
          <p:nvPr>
            <p:ph type="title"/>
          </p:nvPr>
        </p:nvSpPr>
        <p:spPr>
          <a:xfrm>
            <a:off x="398075" y="365350"/>
            <a:ext cx="81588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200"/>
              <a:t>Adaptive Urban Guide</a:t>
            </a:r>
            <a:endParaRPr sz="6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3200"/>
              <a:t>See.Adapt.Navigate</a:t>
            </a:r>
            <a:endParaRPr b="0" sz="3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300"/>
              <a:t> </a:t>
            </a:r>
            <a:endParaRPr sz="7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700"/>
          </a:p>
        </p:txBody>
      </p:sp>
      <p:sp>
        <p:nvSpPr>
          <p:cNvPr id="415" name="Google Shape;415;p1"/>
          <p:cNvSpPr txBox="1"/>
          <p:nvPr>
            <p:ph idx="1" type="body"/>
          </p:nvPr>
        </p:nvSpPr>
        <p:spPr>
          <a:xfrm>
            <a:off x="398075" y="4516450"/>
            <a:ext cx="5704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Jairam Reddy, Abhay Mulgund, Sree </a:t>
            </a:r>
            <a:r>
              <a:rPr lang="en" sz="1600"/>
              <a:t>Kuntamukkala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416" name="Google Shape;416;p1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February 07, 2026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8" name="Google Shape;418;p1" title="WhatsApp Image 2026-02-07 at 12.06.00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2674" y="1476275"/>
            <a:ext cx="2411551" cy="21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"/>
          <p:cNvSpPr txBox="1"/>
          <p:nvPr>
            <p:ph type="title"/>
          </p:nvPr>
        </p:nvSpPr>
        <p:spPr>
          <a:xfrm>
            <a:off x="690350" y="3838925"/>
            <a:ext cx="8344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Target Customer/Segment</a:t>
            </a:r>
            <a:endParaRPr sz="4400"/>
          </a:p>
        </p:txBody>
      </p:sp>
      <p:sp>
        <p:nvSpPr>
          <p:cNvPr id="424" name="Google Shape;424;p2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25" name="Google Shape;425;p2"/>
          <p:cNvSpPr txBox="1"/>
          <p:nvPr>
            <p:ph idx="2" type="body"/>
          </p:nvPr>
        </p:nvSpPr>
        <p:spPr>
          <a:xfrm>
            <a:off x="396725" y="620025"/>
            <a:ext cx="84327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Primary: </a:t>
            </a:r>
            <a:r>
              <a:rPr lang="en"/>
              <a:t>Urban</a:t>
            </a:r>
            <a:r>
              <a:rPr lang="en"/>
              <a:t> navigators with Vision Impairment (Blind/ Low Vision) </a:t>
            </a:r>
            <a:r>
              <a:rPr lang="en"/>
              <a:t>requiring</a:t>
            </a:r>
            <a:r>
              <a:rPr lang="en"/>
              <a:t> high autonomy tools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Focus: Provides real time hazard avoidance in dense city places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Why Now: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Public Sans"/>
              <a:buChar char="●"/>
            </a:pPr>
            <a:r>
              <a:rPr b="1" lang="en" sz="1600"/>
              <a:t>The “Smart City” Safety gap:</a:t>
            </a:r>
            <a:r>
              <a:rPr lang="en" sz="1600"/>
              <a:t> environments becoming denser and more chaotic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ublic Sans"/>
              <a:buChar char="●"/>
            </a:pPr>
            <a:r>
              <a:rPr b="1" lang="en" sz="1600"/>
              <a:t>Democratizing Assistive Tech:</a:t>
            </a:r>
            <a:r>
              <a:rPr lang="en" sz="1600"/>
              <a:t> costly hardware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The Maturity of Edge Intelligence: </a:t>
            </a:r>
            <a:r>
              <a:rPr lang="en" sz="1600"/>
              <a:t>we can run "Vision-to-Action" directly in  mobile with zero server lag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6" name="Google Shape;426;p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658dfca26_1_102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c658dfca26_1_102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The Product - Urban Guide</a:t>
            </a:r>
            <a:endParaRPr sz="5100"/>
          </a:p>
        </p:txBody>
      </p:sp>
      <p:pic>
        <p:nvPicPr>
          <p:cNvPr id="433" name="Google Shape;433;g3c658dfca26_1_102" title="WhatsApp Image 2026-02-07 at 12.18.54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934" y="828675"/>
            <a:ext cx="2405440" cy="26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c658dfca26_1_102" title="WhatsApp Image 2026-02-07 at 12.17.28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1237" y="868400"/>
            <a:ext cx="2531475" cy="25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c658dfca26_1_102"/>
          <p:cNvSpPr txBox="1"/>
          <p:nvPr/>
        </p:nvSpPr>
        <p:spPr>
          <a:xfrm>
            <a:off x="4799600" y="3412202"/>
            <a:ext cx="26055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CAD Model of The Urban Guide Product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658dfca26_1_4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Perception Layer</a:t>
            </a:r>
            <a:endParaRPr/>
          </a:p>
        </p:txBody>
      </p:sp>
      <p:sp>
        <p:nvSpPr>
          <p:cNvPr id="441" name="Google Shape;441;g3c658dfca26_1_4"/>
          <p:cNvSpPr txBox="1"/>
          <p:nvPr>
            <p:ph idx="2" type="body"/>
          </p:nvPr>
        </p:nvSpPr>
        <p:spPr>
          <a:xfrm>
            <a:off x="330650" y="620025"/>
            <a:ext cx="5648400" cy="30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the system makes a decision, it must “see” and “label” the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COCO-SSD Model: </a:t>
            </a:r>
            <a:r>
              <a:rPr lang="en"/>
              <a:t>MultiBox Detector to identify 80+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WebGL Acceleration:</a:t>
            </a:r>
            <a:r>
              <a:rPr lang="en"/>
              <a:t> Direct GPU access for high speed inference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Dynamic Bounding: </a:t>
            </a:r>
            <a:r>
              <a:rPr lang="en"/>
              <a:t>Calculates </a:t>
            </a:r>
            <a:r>
              <a:rPr lang="en"/>
              <a:t>spatial</a:t>
            </a:r>
            <a:r>
              <a:rPr lang="en"/>
              <a:t> coordinates in real time</a:t>
            </a:r>
            <a:endParaRPr/>
          </a:p>
        </p:txBody>
      </p:sp>
      <p:pic>
        <p:nvPicPr>
          <p:cNvPr id="442" name="Google Shape;442;g3c658dfca26_1_4" title="Screenshot 2026-02-07 at 11.32.1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775" y="1364800"/>
            <a:ext cx="2989376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658dfca26_1_13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RL State Vector</a:t>
            </a:r>
            <a:endParaRPr/>
          </a:p>
        </p:txBody>
      </p:sp>
      <p:sp>
        <p:nvSpPr>
          <p:cNvPr id="448" name="Google Shape;448;g3c658dfca26_1_13"/>
          <p:cNvSpPr txBox="1"/>
          <p:nvPr>
            <p:ph idx="2" type="body"/>
          </p:nvPr>
        </p:nvSpPr>
        <p:spPr>
          <a:xfrm>
            <a:off x="394950" y="620025"/>
            <a:ext cx="7862100" cy="27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“brain” of the app does not just see the object, it translates the </a:t>
            </a:r>
            <a:r>
              <a:rPr lang="en"/>
              <a:t>object</a:t>
            </a:r>
            <a:r>
              <a:rPr lang="en"/>
              <a:t> to</a:t>
            </a:r>
            <a:r>
              <a:rPr lang="en"/>
              <a:t> a mathematical State Vector.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Distance Proxy:</a:t>
            </a:r>
            <a:r>
              <a:rPr lang="en"/>
              <a:t> Calculated by the object’s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Deviation (x): </a:t>
            </a:r>
            <a:r>
              <a:rPr lang="en"/>
              <a:t>Measures how far the object is from the center of the user's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Velocity (v): </a:t>
            </a:r>
            <a:r>
              <a:rPr lang="en"/>
              <a:t>Calculated by the rate of change in the object's size over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 Weighting:</a:t>
            </a:r>
            <a:r>
              <a:rPr lang="en"/>
              <a:t> A 'Stop Sign' carries different priority than a 'Bottle' in the path.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658dfca26_1_24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Decision Policy</a:t>
            </a:r>
            <a:endParaRPr/>
          </a:p>
        </p:txBody>
      </p:sp>
      <p:sp>
        <p:nvSpPr>
          <p:cNvPr id="454" name="Google Shape;454;g3c658dfca26_1_24"/>
          <p:cNvSpPr txBox="1"/>
          <p:nvPr>
            <p:ph idx="2" type="body"/>
          </p:nvPr>
        </p:nvSpPr>
        <p:spPr>
          <a:xfrm>
            <a:off x="396725" y="597025"/>
            <a:ext cx="8344200" cy="11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the state vector is defined, the Policy executes an action.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that decides whether the user is safe or needs to move: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g3c658dfca26_1_24" title="Screenshot 2026-02-07 at 11.40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38" y="1385900"/>
            <a:ext cx="7779526" cy="22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658dfca26_1_39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Multi-modal Feedback</a:t>
            </a:r>
            <a:endParaRPr/>
          </a:p>
        </p:txBody>
      </p:sp>
      <p:pic>
        <p:nvPicPr>
          <p:cNvPr id="461" name="Google Shape;461;g3c658dfca26_1_39" title="Screenshot 2026-02-07 at 11.50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99" y="818150"/>
            <a:ext cx="7266599" cy="28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c658dfca26_1_33"/>
          <p:cNvSpPr txBox="1"/>
          <p:nvPr>
            <p:ph type="title"/>
          </p:nvPr>
        </p:nvSpPr>
        <p:spPr>
          <a:xfrm>
            <a:off x="396725" y="3572894"/>
            <a:ext cx="8402400" cy="9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User </a:t>
            </a:r>
            <a:r>
              <a:rPr lang="en" sz="5700"/>
              <a:t>Centric</a:t>
            </a:r>
            <a:r>
              <a:rPr lang="en" sz="5700"/>
              <a:t> </a:t>
            </a:r>
            <a:r>
              <a:rPr lang="en" sz="5700"/>
              <a:t>Calibration</a:t>
            </a:r>
            <a:endParaRPr sz="5700"/>
          </a:p>
        </p:txBody>
      </p:sp>
      <p:sp>
        <p:nvSpPr>
          <p:cNvPr id="467" name="Google Shape;467;g3c658dfca26_1_33"/>
          <p:cNvSpPr txBox="1"/>
          <p:nvPr>
            <p:ph idx="2" type="body"/>
          </p:nvPr>
        </p:nvSpPr>
        <p:spPr>
          <a:xfrm>
            <a:off x="396725" y="725600"/>
            <a:ext cx="84024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isn't "one size fits all." Through the Training Controller, RL weights are tuned for individual mobility and hardware performance.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Safety Buffer:</a:t>
            </a:r>
            <a:r>
              <a:rPr lang="en"/>
              <a:t> Allows users with slower mobility to increase sensitivity, triggering early "HALT" commands and expanding the spatial risk perimeter.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Latency Compensation: </a:t>
            </a:r>
            <a:r>
              <a:rPr lang="en"/>
              <a:t>adjusts the AI's "reaction window"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Profile</a:t>
            </a:r>
            <a:r>
              <a:rPr b="1" lang="en"/>
              <a:t> Optimization:</a:t>
            </a:r>
            <a:r>
              <a:rPr lang="en"/>
              <a:t> personalized "Reward Weights" that prioritize specific environmental classes (stairs vs. vehicles)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658dfca26_1_50"/>
          <p:cNvSpPr txBox="1"/>
          <p:nvPr>
            <p:ph type="title"/>
          </p:nvPr>
        </p:nvSpPr>
        <p:spPr>
          <a:xfrm>
            <a:off x="330650" y="3609625"/>
            <a:ext cx="8404200" cy="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System Intelligence Flow</a:t>
            </a:r>
            <a:endParaRPr sz="5300"/>
          </a:p>
        </p:txBody>
      </p:sp>
      <p:pic>
        <p:nvPicPr>
          <p:cNvPr id="473" name="Google Shape;473;g3c658dfca26_1_50" title="Screenshot 2026-02-07 at 11.56.19 AM.png"/>
          <p:cNvPicPr preferRelativeResize="0"/>
          <p:nvPr/>
        </p:nvPicPr>
        <p:blipFill rotWithShape="1">
          <a:blip r:embed="rId3">
            <a:alphaModFix/>
          </a:blip>
          <a:srcRect b="20839" l="3269" r="1952" t="31163"/>
          <a:stretch/>
        </p:blipFill>
        <p:spPr>
          <a:xfrm>
            <a:off x="466800" y="597000"/>
            <a:ext cx="8210400" cy="231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658dfca26_1_86"/>
          <p:cNvSpPr txBox="1"/>
          <p:nvPr>
            <p:ph type="title"/>
          </p:nvPr>
        </p:nvSpPr>
        <p:spPr>
          <a:xfrm>
            <a:off x="482325" y="3672000"/>
            <a:ext cx="62307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Elevator Pitch</a:t>
            </a:r>
            <a:endParaRPr/>
          </a:p>
        </p:txBody>
      </p:sp>
      <p:sp>
        <p:nvSpPr>
          <p:cNvPr id="479" name="Google Shape;479;g3c658dfca26_1_86"/>
          <p:cNvSpPr txBox="1"/>
          <p:nvPr/>
        </p:nvSpPr>
        <p:spPr>
          <a:xfrm>
            <a:off x="633225" y="580375"/>
            <a:ext cx="6080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Adaptive Urban Guide, </a:t>
            </a:r>
            <a:r>
              <a:rPr i="1"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an edge-AI navigation system that turns every smartphone into a reactive sensory shield for the visually impaired. By combining real-time computer vision with on-device reinforcement learning, our app detects hazards and provides personalized, multimodal feedback: haptic, auditory, and visual to help users navigate complex city environments with confidence. It’s private, zero-latency, and adapts its safety logic to every individual's unique mobility needs.</a:t>
            </a:r>
            <a:endParaRPr b="0" i="1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658dfca26_1_96"/>
          <p:cNvSpPr txBox="1"/>
          <p:nvPr>
            <p:ph type="title"/>
          </p:nvPr>
        </p:nvSpPr>
        <p:spPr>
          <a:xfrm>
            <a:off x="383375" y="616650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